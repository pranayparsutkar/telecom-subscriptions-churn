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88" r:id="rId5"/>
    <p:sldId id="259" r:id="rId6"/>
    <p:sldId id="287" r:id="rId7"/>
    <p:sldId id="284" r:id="rId8"/>
    <p:sldId id="285" r:id="rId9"/>
    <p:sldId id="286" r:id="rId10"/>
    <p:sldId id="273" r:id="rId11"/>
    <p:sldId id="296" r:id="rId12"/>
    <p:sldId id="295" r:id="rId13"/>
    <p:sldId id="274" r:id="rId14"/>
    <p:sldId id="275" r:id="rId15"/>
    <p:sldId id="276" r:id="rId16"/>
    <p:sldId id="277" r:id="rId17"/>
    <p:sldId id="279" r:id="rId18"/>
    <p:sldId id="289" r:id="rId19"/>
    <p:sldId id="290" r:id="rId20"/>
    <p:sldId id="291" r:id="rId21"/>
    <p:sldId id="292" r:id="rId22"/>
    <p:sldId id="293" r:id="rId23"/>
    <p:sldId id="294" r:id="rId24"/>
    <p:sldId id="281" r:id="rId25"/>
    <p:sldId id="282" r:id="rId26"/>
    <p:sldId id="283" r:id="rId27"/>
    <p:sldId id="298" r:id="rId28"/>
    <p:sldId id="297" r:id="rId29"/>
    <p:sldId id="278" r:id="rId30"/>
  </p:sldIdLst>
  <p:sldSz cx="18288000" cy="10287000"/>
  <p:notesSz cx="6858000" cy="9144000"/>
  <p:embeddedFontLs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Montserrat Bold" panose="00000800000000000000" charset="0"/>
      <p:regular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52" d="100"/>
          <a:sy n="52" d="100"/>
        </p:scale>
        <p:origin x="8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306105" y="2072199"/>
            <a:ext cx="7981895" cy="8190377"/>
          </a:xfrm>
          <a:custGeom>
            <a:avLst/>
            <a:gdLst/>
            <a:ahLst/>
            <a:cxnLst/>
            <a:rect l="l" t="t" r="r" b="b"/>
            <a:pathLst>
              <a:path w="7981895" h="8190377">
                <a:moveTo>
                  <a:pt x="7981895" y="0"/>
                </a:moveTo>
                <a:lnTo>
                  <a:pt x="0" y="0"/>
                </a:lnTo>
                <a:lnTo>
                  <a:pt x="0" y="8190377"/>
                </a:lnTo>
                <a:lnTo>
                  <a:pt x="7981895" y="8190377"/>
                </a:lnTo>
                <a:lnTo>
                  <a:pt x="798189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271528" y="3819760"/>
            <a:ext cx="14551684" cy="1434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1" spc="151" dirty="0">
                <a:solidFill>
                  <a:srgbClr val="006B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TITLE : TELECOM MARKET SHARE CHURN 								PREDICTION</a:t>
            </a:r>
          </a:p>
          <a:p>
            <a:pPr algn="l">
              <a:lnSpc>
                <a:spcPts val="209"/>
              </a:lnSpc>
            </a:pPr>
            <a:endParaRPr lang="en-US" sz="4199" b="1" spc="151" dirty="0">
              <a:solidFill>
                <a:srgbClr val="006BB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71528" y="4462169"/>
            <a:ext cx="6452243" cy="1705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1"/>
              </a:lnSpc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0" y="690947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913190" y="1461543"/>
            <a:ext cx="3731374" cy="802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737" b="1" spc="106">
                <a:solidFill>
                  <a:srgbClr val="08377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EVAOSTRA VENTURES INC.</a:t>
            </a:r>
          </a:p>
        </p:txBody>
      </p:sp>
      <p:sp>
        <p:nvSpPr>
          <p:cNvPr id="7" name="Freeform 7"/>
          <p:cNvSpPr/>
          <p:nvPr/>
        </p:nvSpPr>
        <p:spPr>
          <a:xfrm>
            <a:off x="1591973" y="1452018"/>
            <a:ext cx="864990" cy="811845"/>
          </a:xfrm>
          <a:custGeom>
            <a:avLst/>
            <a:gdLst/>
            <a:ahLst/>
            <a:cxnLst/>
            <a:rect l="l" t="t" r="r" b="b"/>
            <a:pathLst>
              <a:path w="864990" h="811845">
                <a:moveTo>
                  <a:pt x="0" y="0"/>
                </a:moveTo>
                <a:lnTo>
                  <a:pt x="864990" y="0"/>
                </a:lnTo>
                <a:lnTo>
                  <a:pt x="864990" y="811845"/>
                </a:lnTo>
                <a:lnTo>
                  <a:pt x="0" y="811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288" r="-9773" b="-34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271528" y="5329066"/>
            <a:ext cx="6452243" cy="45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0"/>
              </a:lnSpc>
              <a:spcBef>
                <a:spcPct val="0"/>
              </a:spcBef>
            </a:pPr>
            <a:r>
              <a:rPr lang="en-US" sz="3052" b="1" spc="119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Major Project-Team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875919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 flipV="1">
            <a:off x="12461620" y="-16491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7020131" y="3096756"/>
            <a:ext cx="424773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08377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Team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90431" y="4380888"/>
            <a:ext cx="5707137" cy="386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dirty="0">
                <a:solidFill>
                  <a:srgbClr val="006BB6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1.Team Lead: Pankhuri Sharma</a:t>
            </a:r>
          </a:p>
          <a:p>
            <a:pPr algn="just">
              <a:lnSpc>
                <a:spcPts val="3780"/>
              </a:lnSpc>
            </a:pPr>
            <a:r>
              <a:rPr lang="en-US" sz="2700" dirty="0">
                <a:solidFill>
                  <a:srgbClr val="006BB6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2.Co-Lead: Pranay Parsutkar</a:t>
            </a:r>
          </a:p>
          <a:p>
            <a:pPr algn="just">
              <a:lnSpc>
                <a:spcPts val="3780"/>
              </a:lnSpc>
            </a:pPr>
            <a:r>
              <a:rPr lang="en-US" sz="2700" dirty="0">
                <a:solidFill>
                  <a:srgbClr val="006BB6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3.Syeda Masuma Fatima</a:t>
            </a:r>
          </a:p>
          <a:p>
            <a:pPr algn="just">
              <a:lnSpc>
                <a:spcPts val="3780"/>
              </a:lnSpc>
            </a:pPr>
            <a:r>
              <a:rPr lang="en-US" sz="2700" dirty="0">
                <a:solidFill>
                  <a:srgbClr val="006BB6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4.Sneha Jamalpur</a:t>
            </a:r>
          </a:p>
          <a:p>
            <a:pPr algn="just">
              <a:lnSpc>
                <a:spcPts val="3780"/>
              </a:lnSpc>
            </a:pPr>
            <a:r>
              <a:rPr lang="en-US" sz="2700" dirty="0">
                <a:solidFill>
                  <a:srgbClr val="006BB6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5.Tharun</a:t>
            </a:r>
          </a:p>
          <a:p>
            <a:pPr algn="just">
              <a:lnSpc>
                <a:spcPts val="3780"/>
              </a:lnSpc>
            </a:pPr>
            <a:r>
              <a:rPr lang="en-US" sz="2700" dirty="0">
                <a:solidFill>
                  <a:srgbClr val="006BB6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6.Akhila</a:t>
            </a:r>
          </a:p>
          <a:p>
            <a:pPr algn="just">
              <a:lnSpc>
                <a:spcPts val="3780"/>
              </a:lnSpc>
            </a:pPr>
            <a:r>
              <a:rPr lang="en-US" sz="2700" dirty="0">
                <a:solidFill>
                  <a:srgbClr val="006BB6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7.Visali</a:t>
            </a:r>
          </a:p>
          <a:p>
            <a:pPr algn="just">
              <a:lnSpc>
                <a:spcPts val="3780"/>
              </a:lnSpc>
            </a:pPr>
            <a:endParaRPr lang="en-US" sz="2700" dirty="0">
              <a:solidFill>
                <a:srgbClr val="006BB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39573" y="1299618"/>
            <a:ext cx="864990" cy="811845"/>
          </a:xfrm>
          <a:custGeom>
            <a:avLst/>
            <a:gdLst/>
            <a:ahLst/>
            <a:cxnLst/>
            <a:rect l="l" t="t" r="r" b="b"/>
            <a:pathLst>
              <a:path w="864990" h="811845">
                <a:moveTo>
                  <a:pt x="0" y="0"/>
                </a:moveTo>
                <a:lnTo>
                  <a:pt x="864990" y="0"/>
                </a:lnTo>
                <a:lnTo>
                  <a:pt x="864990" y="811845"/>
                </a:lnTo>
                <a:lnTo>
                  <a:pt x="0" y="811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288" r="-9773" b="-34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2781023" y="1309143"/>
            <a:ext cx="3731374" cy="802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737" b="1" spc="106">
                <a:solidFill>
                  <a:srgbClr val="08377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EVAOSTRA VENTURES INC.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508424" y="2429778"/>
            <a:ext cx="14188776" cy="5477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Montserrat" panose="00000500000000000000" pitchFamily="2" charset="0"/>
              </a:rPr>
              <a:t>Build a reproducible and auditable market churn analytics pipeline.</a:t>
            </a:r>
          </a:p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Montserrat" panose="00000500000000000000" pitchFamily="2" charset="0"/>
              </a:rPr>
              <a:t>Build a churn prediction and market analytics model with &gt;85% accuracy and ROC-AUC &gt;0.85.</a:t>
            </a:r>
          </a:p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Montserrat" panose="00000500000000000000" pitchFamily="2" charset="0"/>
              </a:rPr>
              <a:t>Use advanced machine learning methods such as Random Forest, XGBoost, and Ensemble techniques for reliable performance.</a:t>
            </a:r>
          </a:p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Montserrat" panose="00000500000000000000" pitchFamily="2" charset="0"/>
              </a:rPr>
              <a:t>Visualize churn risk and interventions through an operational dashboard.</a:t>
            </a:r>
          </a:p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Montserrat" panose="00000500000000000000" pitchFamily="2" charset="0"/>
              </a:rPr>
              <a:t>Quantify ROI of targeted retention actions to support strategic business decisions.</a:t>
            </a:r>
            <a:endParaRPr lang="en-US" sz="3070" spc="67" dirty="0">
              <a:solidFill>
                <a:schemeClr val="tx2"/>
              </a:solidFill>
              <a:latin typeface="Montserrat" panose="00000500000000000000" pitchFamily="2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08424" y="1335969"/>
            <a:ext cx="9659558" cy="722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86"/>
              </a:lnSpc>
              <a:spcBef>
                <a:spcPct val="0"/>
              </a:spcBef>
            </a:pPr>
            <a:r>
              <a:rPr lang="en-US" sz="4822" b="1" spc="173" dirty="0">
                <a:solidFill>
                  <a:srgbClr val="0063A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687307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B25DC-E98F-3409-94B9-D5CB44E06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D66B9042-6ACB-C7AB-C078-6C4775059C8B}"/>
              </a:ext>
            </a:extLst>
          </p:cNvPr>
          <p:cNvSpPr txBox="1"/>
          <p:nvPr/>
        </p:nvSpPr>
        <p:spPr>
          <a:xfrm>
            <a:off x="457200" y="1333500"/>
            <a:ext cx="11353800" cy="819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Primary Source: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Telecom Regulatory Authority of India (TRAI) — official telecom subscription data.</a:t>
            </a:r>
          </a:p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Dataset Size: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~70,728 records (~25+ MB).</a:t>
            </a:r>
          </a:p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Time Span: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2009–2025 (15+ years of historical data).</a:t>
            </a:r>
          </a:p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Coverage:</a:t>
            </a:r>
          </a:p>
          <a:p>
            <a:pPr marL="914400" lvl="1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42 unique telecom operators across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38 telecom circles/states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in India.</a:t>
            </a:r>
          </a:p>
          <a:p>
            <a:pPr marL="914400" lvl="1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Includes both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wireless and wireline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connection types.</a:t>
            </a:r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Granularity: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Monthly data capturing subscriber counts by operator, circle, and technology (2G/3G/4G/5G).</a:t>
            </a:r>
          </a:p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Reflects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telecom industry evolution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— from early 2G networks to 4G and 5G adoption.</a:t>
            </a:r>
          </a:p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Facilitates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regional comparisons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, highlighting strong and weak circles for each operator.</a:t>
            </a:r>
          </a:p>
          <a:p>
            <a:pPr marL="457200" lvl="0" indent="-457200">
              <a:lnSpc>
                <a:spcPts val="42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Serves as a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foundation for churn, market share, and ROI analysis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through feature engineering and predictive modeling.</a:t>
            </a:r>
            <a:endParaRPr lang="en-US" sz="2000" spc="67" dirty="0">
              <a:solidFill>
                <a:schemeClr val="tx2"/>
              </a:solidFill>
              <a:latin typeface="Montserrat" panose="00000500000000000000" pitchFamily="2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482C92E-E18D-DA54-C576-957AC04E4458}"/>
              </a:ext>
            </a:extLst>
          </p:cNvPr>
          <p:cNvSpPr txBox="1"/>
          <p:nvPr/>
        </p:nvSpPr>
        <p:spPr>
          <a:xfrm>
            <a:off x="609600" y="492471"/>
            <a:ext cx="9659558" cy="722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86"/>
              </a:lnSpc>
              <a:spcBef>
                <a:spcPct val="0"/>
              </a:spcBef>
            </a:pPr>
            <a:r>
              <a:rPr lang="en-US" sz="4822" b="1" spc="173" dirty="0">
                <a:solidFill>
                  <a:srgbClr val="0063A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AB3D4088-24DB-2925-D1DB-532367CE1693}"/>
              </a:ext>
            </a:extLst>
          </p:cNvPr>
          <p:cNvSpPr/>
          <p:nvPr/>
        </p:nvSpPr>
        <p:spPr>
          <a:xfrm flipH="1" flipV="1">
            <a:off x="12461620" y="0"/>
            <a:ext cx="5826380" cy="1714500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B610C-1ADC-BFF2-68E2-D29C5EEDD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467" y="1995351"/>
            <a:ext cx="9069066" cy="195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9C7932-2CEC-4E5D-487C-0590CEA91D7D}"/>
              </a:ext>
            </a:extLst>
          </p:cNvPr>
          <p:cNvSpPr txBox="1"/>
          <p:nvPr/>
        </p:nvSpPr>
        <p:spPr>
          <a:xfrm>
            <a:off x="12573000" y="422910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Telecom Subscriptions, provided dataset.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2ED52088-82E3-24CA-1B84-4D3FB2FCA483}"/>
              </a:ext>
            </a:extLst>
          </p:cNvPr>
          <p:cNvSpPr/>
          <p:nvPr/>
        </p:nvSpPr>
        <p:spPr>
          <a:xfrm flipH="1" flipV="1">
            <a:off x="12461620" y="10096500"/>
            <a:ext cx="5826380" cy="190500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73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99195-8AAD-16FF-02A2-9A35CF2C2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69161495-07A8-829C-7251-DE12A66E7BB4}"/>
              </a:ext>
            </a:extLst>
          </p:cNvPr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6604E98-1897-9607-4C16-5BB745C2C768}"/>
              </a:ext>
            </a:extLst>
          </p:cNvPr>
          <p:cNvSpPr/>
          <p:nvPr/>
        </p:nvSpPr>
        <p:spPr>
          <a:xfrm>
            <a:off x="-3412" y="7810500"/>
            <a:ext cx="5826380" cy="2451257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A199154-D63C-2583-6AAB-70D4A55E736E}"/>
              </a:ext>
            </a:extLst>
          </p:cNvPr>
          <p:cNvSpPr/>
          <p:nvPr/>
        </p:nvSpPr>
        <p:spPr>
          <a:xfrm flipH="1" flipV="1">
            <a:off x="12461620" y="0"/>
            <a:ext cx="5826380" cy="2019300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A77AC17-691C-6A12-7564-3B51C9772BE1}"/>
              </a:ext>
            </a:extLst>
          </p:cNvPr>
          <p:cNvSpPr txBox="1"/>
          <p:nvPr/>
        </p:nvSpPr>
        <p:spPr>
          <a:xfrm>
            <a:off x="875237" y="666510"/>
            <a:ext cx="9895461" cy="771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6254"/>
              </a:lnSpc>
              <a:spcBef>
                <a:spcPct val="0"/>
              </a:spcBef>
            </a:pPr>
            <a:r>
              <a:rPr lang="en-US" sz="5211" b="1" spc="187" dirty="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601DF3-1688-7C73-C2AB-62F05E226C9E}"/>
              </a:ext>
            </a:extLst>
          </p:cNvPr>
          <p:cNvSpPr txBox="1"/>
          <p:nvPr/>
        </p:nvSpPr>
        <p:spPr>
          <a:xfrm>
            <a:off x="1371600" y="1562100"/>
            <a:ext cx="1028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42" dirty="0">
                <a:solidFill>
                  <a:schemeClr val="tx2"/>
                </a:solidFill>
                <a:latin typeface="Montserrat" panose="00000500000000000000" pitchFamily="2" charset="0"/>
                <a:ea typeface="Montserrat Bold"/>
                <a:cs typeface="Times New Roman" panose="02020603050405020304" pitchFamily="18" charset="0"/>
                <a:sym typeface="Montserrat Bold"/>
              </a:rPr>
              <a:t>U</a:t>
            </a:r>
            <a:r>
              <a:rPr lang="en-US" b="1" dirty="0">
                <a:solidFill>
                  <a:schemeClr val="tx2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nderstanding the structure, quality, and trends in the dataset before applying any advanced modeling</a:t>
            </a:r>
            <a:endParaRPr lang="en-US" b="1" spc="42" dirty="0">
              <a:solidFill>
                <a:schemeClr val="tx2"/>
              </a:solidFill>
              <a:latin typeface="Montserrat" panose="00000500000000000000" pitchFamily="2" charset="0"/>
              <a:ea typeface="Montserrat Bold"/>
              <a:cs typeface="Times New Roman" panose="02020603050405020304" pitchFamily="18" charset="0"/>
              <a:sym typeface="Montserrat Bold"/>
            </a:endParaRP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33D19-326E-F329-C551-1BB6D04BAAA5}"/>
              </a:ext>
            </a:extLst>
          </p:cNvPr>
          <p:cNvSpPr txBox="1"/>
          <p:nvPr/>
        </p:nvSpPr>
        <p:spPr>
          <a:xfrm>
            <a:off x="875237" y="2681845"/>
            <a:ext cx="804016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Data Cleaning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Handled Missing Values: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Checked for nulls and removed or imputed missing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Removed Irrelevant Columns: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Dropped notes and unit columns as they didn’t contribute to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Data Type Conversion: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Converted the year column to numeric values and handled invalid entries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Cleaned the value column to remove non-numeric characters and convert to float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Standardized Text Columns: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Converted type_of_connection to lowercase.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Trimmed spaces in service_provider and formatted month to title case.</a:t>
            </a:r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lvl="1"/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0272E9-B396-E7A9-471D-D2A6A56835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561740"/>
            <a:ext cx="8379607" cy="52743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D62D40-0A27-E0C8-05C9-5E930D01D65A}"/>
              </a:ext>
            </a:extLst>
          </p:cNvPr>
          <p:cNvSpPr txBox="1"/>
          <p:nvPr/>
        </p:nvSpPr>
        <p:spPr>
          <a:xfrm>
            <a:off x="5562600" y="8411011"/>
            <a:ext cx="115038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The image shows  output of dataset and its shape, columns, data types and missing values in every column</a:t>
            </a:r>
          </a:p>
        </p:txBody>
      </p:sp>
    </p:spTree>
    <p:extLst>
      <p:ext uri="{BB962C8B-B14F-4D97-AF65-F5344CB8AC3E}">
        <p14:creationId xmlns:p14="http://schemas.microsoft.com/office/powerpoint/2010/main" val="316745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DB44F-9187-D341-D641-D2CA9536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33A17F6-556D-ED2A-EAA4-3EF24D8565C6}"/>
              </a:ext>
            </a:extLst>
          </p:cNvPr>
          <p:cNvSpPr txBox="1"/>
          <p:nvPr/>
        </p:nvSpPr>
        <p:spPr>
          <a:xfrm>
            <a:off x="4143754" y="8564791"/>
            <a:ext cx="2657711" cy="1082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2"/>
              </a:lnSpc>
              <a:spcBef>
                <a:spcPct val="0"/>
              </a:spcBef>
            </a:pPr>
            <a:r>
              <a:rPr lang="en-US" sz="1273" u="none" strike="noStrike" spc="2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AD6A2C9-28CE-E53A-7655-3CB49E60F3AF}"/>
              </a:ext>
            </a:extLst>
          </p:cNvPr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753254A-2810-C01A-6E77-56F715E36D65}"/>
              </a:ext>
            </a:extLst>
          </p:cNvPr>
          <p:cNvSpPr/>
          <p:nvPr/>
        </p:nvSpPr>
        <p:spPr>
          <a:xfrm>
            <a:off x="-3412" y="8115300"/>
            <a:ext cx="5826380" cy="2146457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561CF79-1A97-FE09-2D58-A24136D97B7B}"/>
              </a:ext>
            </a:extLst>
          </p:cNvPr>
          <p:cNvSpPr/>
          <p:nvPr/>
        </p:nvSpPr>
        <p:spPr>
          <a:xfrm flipH="1" flipV="1">
            <a:off x="12461620" y="0"/>
            <a:ext cx="5826380" cy="1866900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1B21D-B67F-AB8B-0596-6C2B09CA33F4}"/>
              </a:ext>
            </a:extLst>
          </p:cNvPr>
          <p:cNvSpPr txBox="1"/>
          <p:nvPr/>
        </p:nvSpPr>
        <p:spPr>
          <a:xfrm>
            <a:off x="762000" y="647700"/>
            <a:ext cx="8305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Data Formatting for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Created Combined Date Column: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date = month + year → formatted using pd.to_datetime() for timeline visualizations.</a:t>
            </a:r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Separated Connection 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Created two DataFrames: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df_wireless → for mobile/wireless analysis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df_wireline → for fixed-line/wired connections</a:t>
            </a:r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Filtered Top Service Providers: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Extracted top 10 providers by frequency for focused visualization.</a:t>
            </a:r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9E9375-39F9-0971-FD6F-4C21DB35F9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2" y="0"/>
            <a:ext cx="3733800" cy="34778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89DBB99-2A92-879E-4622-3168577B128F}"/>
              </a:ext>
            </a:extLst>
          </p:cNvPr>
          <p:cNvSpPr txBox="1"/>
          <p:nvPr/>
        </p:nvSpPr>
        <p:spPr>
          <a:xfrm>
            <a:off x="12801600" y="1714500"/>
            <a:ext cx="3733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Converted the year into numeric int and  value into float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2DC40D-2CF7-037F-7174-5D35A7683A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350321"/>
            <a:ext cx="6324600" cy="4439216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33ED5A-18DD-3032-BA19-BFF0FD4E2625}"/>
              </a:ext>
            </a:extLst>
          </p:cNvPr>
          <p:cNvCxnSpPr>
            <a:cxnSpLocks/>
          </p:cNvCxnSpPr>
          <p:nvPr/>
        </p:nvCxnSpPr>
        <p:spPr>
          <a:xfrm flipH="1">
            <a:off x="8677778" y="5676900"/>
            <a:ext cx="62103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D031EAB-1961-02AD-5A1B-8352C56391E3}"/>
              </a:ext>
            </a:extLst>
          </p:cNvPr>
          <p:cNvSpPr txBox="1"/>
          <p:nvPr/>
        </p:nvSpPr>
        <p:spPr>
          <a:xfrm>
            <a:off x="8724900" y="6262419"/>
            <a:ext cx="5943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These are some of the examples of service providers and their count.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Checked provider distribution using df['service_provider'].value_counts().</a:t>
            </a:r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094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F3E21-0B76-ECBC-0748-0A0689EA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208981C4-9E3E-6DE8-2EE9-D6D4FBA9B43F}"/>
              </a:ext>
            </a:extLst>
          </p:cNvPr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E63D08C-C4DE-3F20-5EE0-2E8AE6ED0B19}"/>
              </a:ext>
            </a:extLst>
          </p:cNvPr>
          <p:cNvSpPr txBox="1"/>
          <p:nvPr/>
        </p:nvSpPr>
        <p:spPr>
          <a:xfrm>
            <a:off x="1368468" y="254260"/>
            <a:ext cx="8208281" cy="771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6254"/>
              </a:lnSpc>
              <a:spcBef>
                <a:spcPct val="0"/>
              </a:spcBef>
            </a:pPr>
            <a:r>
              <a:rPr lang="en-US" sz="5211" b="1" spc="187" dirty="0">
                <a:solidFill>
                  <a:schemeClr val="tx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Service Providers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584F0A-89BE-BC5D-8F6C-7F68769A5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789003"/>
            <a:ext cx="7696201" cy="67089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23D4A5-5F05-CE71-3EC1-B66BD03C7921}"/>
              </a:ext>
            </a:extLst>
          </p:cNvPr>
          <p:cNvSpPr txBox="1"/>
          <p:nvPr/>
        </p:nvSpPr>
        <p:spPr>
          <a:xfrm>
            <a:off x="9829800" y="3404561"/>
            <a:ext cx="7696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Observation: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The pie chart shows the distribution of telecom service providers based on their frequency in the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BSNL has the largest share (18.4%), followed by Bharti Airtel (15.7%) and Reliance Communications (~12.7%).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MTNL and Vodafone also have notable proportions, while providers like Sistema and Idea have smaller market shares.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This indicates BSNL and Airtel are the most dominant service providers among users in the dataset.</a:t>
            </a:r>
          </a:p>
          <a:p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617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D0576-B173-44E8-150C-9701261A9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2A0A515-E058-AA6E-61A4-417038A94FA5}"/>
              </a:ext>
            </a:extLst>
          </p:cNvPr>
          <p:cNvSpPr txBox="1"/>
          <p:nvPr/>
        </p:nvSpPr>
        <p:spPr>
          <a:xfrm>
            <a:off x="4143754" y="8564791"/>
            <a:ext cx="2657711" cy="1082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2"/>
              </a:lnSpc>
              <a:spcBef>
                <a:spcPct val="0"/>
              </a:spcBef>
            </a:pPr>
            <a:r>
              <a:rPr lang="en-US" sz="1273" u="none" strike="noStrike" spc="2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B0EF32A-1E98-A89C-18D3-7D3E5818DEF3}"/>
              </a:ext>
            </a:extLst>
          </p:cNvPr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7470954-62D2-F59B-C593-CCCE657CF431}"/>
              </a:ext>
            </a:extLst>
          </p:cNvPr>
          <p:cNvSpPr txBox="1"/>
          <p:nvPr/>
        </p:nvSpPr>
        <p:spPr>
          <a:xfrm>
            <a:off x="807003" y="419100"/>
            <a:ext cx="3336751" cy="771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6254"/>
              </a:lnSpc>
              <a:spcBef>
                <a:spcPct val="0"/>
              </a:spcBef>
            </a:pPr>
            <a:r>
              <a:rPr lang="en-US" sz="5211" b="1" spc="187" dirty="0">
                <a:solidFill>
                  <a:schemeClr val="tx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Wireless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68FF4-9806-D884-DB7E-A967287DE539}"/>
              </a:ext>
            </a:extLst>
          </p:cNvPr>
          <p:cNvSpPr txBox="1"/>
          <p:nvPr/>
        </p:nvSpPr>
        <p:spPr>
          <a:xfrm>
            <a:off x="749865" y="1476794"/>
            <a:ext cx="815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Conducted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trend analysis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on active and shutdown providers across years.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Cleaned and standardized columns — removed unwanted symbols and converted data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Beside are some of the examples showing  Service provider and the month &amp; year of shutting down the services.</a:t>
            </a:r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A72EBB-D336-F7F5-BBAA-701F9FE90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834761"/>
            <a:ext cx="7315200" cy="28888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FA0251-4A6B-EFC1-4BE0-41C57400E51C}"/>
              </a:ext>
            </a:extLst>
          </p:cNvPr>
          <p:cNvSpPr txBox="1"/>
          <p:nvPr/>
        </p:nvSpPr>
        <p:spPr>
          <a:xfrm>
            <a:off x="1003955" y="4697968"/>
            <a:ext cx="627959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tx2"/>
                </a:solidFill>
                <a:latin typeface="Montserrat" panose="00000500000000000000" pitchFamily="2" charset="0"/>
              </a:rPr>
              <a:t>Key 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BSNL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and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Airtel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remain dominant players with the highest subscriber shares.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Reliance Jio’s entry (post-2016)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triggered major competition and price disruption.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2011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recorded the highest number of shutdowns due to the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2G spectrum scam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2017–2018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saw consolidation — several smaller operators exited or merged.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Market shifted from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20+ providers in 2010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to a few national players by 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Jio, Airtel, and BSNL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continue to hold most of the wireless market share.</a:t>
            </a:r>
          </a:p>
          <a:p>
            <a:endParaRPr lang="en-IN" sz="3000" dirty="0">
              <a:latin typeface="Montserrat" panose="00000500000000000000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E48B19-BC3E-2D1D-B3C4-E80943F4C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4031339"/>
            <a:ext cx="9689535" cy="561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5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280BC-BA13-06B0-7B16-FE8680A58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5133D64-B724-7F4E-3E30-A536DF635686}"/>
              </a:ext>
            </a:extLst>
          </p:cNvPr>
          <p:cNvSpPr txBox="1"/>
          <p:nvPr/>
        </p:nvSpPr>
        <p:spPr>
          <a:xfrm>
            <a:off x="4143754" y="8564791"/>
            <a:ext cx="2657711" cy="1082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2"/>
              </a:lnSpc>
              <a:spcBef>
                <a:spcPct val="0"/>
              </a:spcBef>
            </a:pPr>
            <a:r>
              <a:rPr lang="en-US" sz="1273" u="none" strike="noStrike" spc="2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2A04D52-FFF0-892B-66B1-5F7F32CA4E03}"/>
              </a:ext>
            </a:extLst>
          </p:cNvPr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BB7D388-8F49-E40F-63F8-6D60585FA30F}"/>
              </a:ext>
            </a:extLst>
          </p:cNvPr>
          <p:cNvSpPr txBox="1"/>
          <p:nvPr/>
        </p:nvSpPr>
        <p:spPr>
          <a:xfrm>
            <a:off x="807003" y="419100"/>
            <a:ext cx="3336751" cy="771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6254"/>
              </a:lnSpc>
              <a:spcBef>
                <a:spcPct val="0"/>
              </a:spcBef>
            </a:pPr>
            <a:r>
              <a:rPr lang="en-US" sz="5211" b="1" spc="187" dirty="0">
                <a:solidFill>
                  <a:schemeClr val="tx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Wireline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1C4410-ED0E-7E62-1F9E-2DE2702D59BD}"/>
              </a:ext>
            </a:extLst>
          </p:cNvPr>
          <p:cNvSpPr txBox="1"/>
          <p:nvPr/>
        </p:nvSpPr>
        <p:spPr>
          <a:xfrm>
            <a:off x="749865" y="1476794"/>
            <a:ext cx="8153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We made the same analysis as we did in the wireless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2587FE-AE48-F005-0949-EF48FEA0ED64}"/>
              </a:ext>
            </a:extLst>
          </p:cNvPr>
          <p:cNvSpPr txBox="1"/>
          <p:nvPr/>
        </p:nvSpPr>
        <p:spPr>
          <a:xfrm>
            <a:off x="1003955" y="4697968"/>
            <a:ext cx="6279597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tx2"/>
                </a:solidFill>
                <a:latin typeface="Montserrat" panose="00000500000000000000" pitchFamily="2" charset="0"/>
              </a:rPr>
              <a:t>Key 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The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wireline market contracted steadily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over time with few active providers remaining.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2011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again marked the peak of shutdowns following license cancellations.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2017–2018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experienced further decline as operators shifted focus to mobile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By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2025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, only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BSNL, Airtel, and Jio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sustain wireline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The decline reflects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user migration to wireless and broadband alternatives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BSNL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maintains presence due to government and rural connectivity programs.</a:t>
            </a:r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A94980-09CB-95BD-C2E0-A3C5DF319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65631"/>
            <a:ext cx="8125959" cy="1114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CFE47D-5665-9157-2CEE-28FB4E8C9E90}"/>
              </a:ext>
            </a:extLst>
          </p:cNvPr>
          <p:cNvSpPr txBox="1"/>
          <p:nvPr/>
        </p:nvSpPr>
        <p:spPr>
          <a:xfrm>
            <a:off x="1003955" y="3080212"/>
            <a:ext cx="63874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These are couple of  samples from the  processed wireline data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Later the wireless and wireless data is merged for further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47A204-519A-C106-C2F1-AEA7B68FB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428" y="332775"/>
            <a:ext cx="6468378" cy="17147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D66C46-B19E-DF27-22A1-646006F047DE}"/>
              </a:ext>
            </a:extLst>
          </p:cNvPr>
          <p:cNvSpPr txBox="1"/>
          <p:nvPr/>
        </p:nvSpPr>
        <p:spPr>
          <a:xfrm>
            <a:off x="10134600" y="2271123"/>
            <a:ext cx="65863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Service providers that are shut down  along with year &amp; month of shutting down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9113D7-A66D-1670-ED68-446CD1EFD0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552" y="3741931"/>
            <a:ext cx="10679015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65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DFB66-E451-CE59-88BF-D92D40710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785DB10C-9382-977F-F3D0-CDDA3A910C16}"/>
              </a:ext>
            </a:extLst>
          </p:cNvPr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E673EF5-8DA5-2243-D9F3-2EFE5984FD63}"/>
              </a:ext>
            </a:extLst>
          </p:cNvPr>
          <p:cNvSpPr/>
          <p:nvPr/>
        </p:nvSpPr>
        <p:spPr>
          <a:xfrm>
            <a:off x="-3412" y="8953500"/>
            <a:ext cx="5826380" cy="1308257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25E98B1-64CC-C98F-7B2E-F9288C05089A}"/>
              </a:ext>
            </a:extLst>
          </p:cNvPr>
          <p:cNvSpPr/>
          <p:nvPr/>
        </p:nvSpPr>
        <p:spPr>
          <a:xfrm flipH="1" flipV="1">
            <a:off x="12461620" y="0"/>
            <a:ext cx="5826380" cy="1520433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E893F1F-7673-9516-7E1B-C4531CABE83E}"/>
              </a:ext>
            </a:extLst>
          </p:cNvPr>
          <p:cNvSpPr txBox="1"/>
          <p:nvPr/>
        </p:nvSpPr>
        <p:spPr>
          <a:xfrm>
            <a:off x="340838" y="527942"/>
            <a:ext cx="7988683" cy="771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6254"/>
              </a:lnSpc>
              <a:spcBef>
                <a:spcPct val="0"/>
              </a:spcBef>
            </a:pPr>
            <a:r>
              <a:rPr lang="en-US" sz="5211" b="1" spc="187" dirty="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B1A633-EA63-827F-7AE0-CBD047FCB387}"/>
              </a:ext>
            </a:extLst>
          </p:cNvPr>
          <p:cNvSpPr txBox="1"/>
          <p:nvPr/>
        </p:nvSpPr>
        <p:spPr>
          <a:xfrm>
            <a:off x="685800" y="1430520"/>
            <a:ext cx="678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2"/>
                </a:solidFill>
                <a:latin typeface="Montserrat" panose="00000500000000000000" pitchFamily="2" charset="0"/>
              </a:rPr>
              <a:t>Feature Construction &amp; Derived Metrics</a:t>
            </a:r>
            <a:endParaRPr lang="en-US" sz="3600" b="1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EF68C-AF83-3F6C-1D5B-F15AFAE2D05C}"/>
              </a:ext>
            </a:extLst>
          </p:cNvPr>
          <p:cNvSpPr txBox="1"/>
          <p:nvPr/>
        </p:nvSpPr>
        <p:spPr>
          <a:xfrm>
            <a:off x="838200" y="2933700"/>
            <a:ext cx="154686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Temporal Features: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Created lag-based variables to capture time dynamics in each operator–circle pair. These lags help model </a:t>
            </a:r>
            <a:r>
              <a:rPr lang="en-US" sz="2000" i="1" dirty="0">
                <a:solidFill>
                  <a:schemeClr val="tx2"/>
                </a:solidFill>
                <a:latin typeface="Montserrat" panose="00000500000000000000" pitchFamily="2" charset="0"/>
              </a:rPr>
              <a:t>momentum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Montserrat" panose="00000500000000000000" pitchFamily="2" charset="0"/>
              </a:rPr>
              <a:t>trends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, and </a:t>
            </a:r>
            <a:r>
              <a:rPr lang="en-US" sz="2000" i="1" dirty="0">
                <a:solidFill>
                  <a:schemeClr val="tx2"/>
                </a:solidFill>
                <a:latin typeface="Montserrat" panose="00000500000000000000" pitchFamily="2" charset="0"/>
              </a:rPr>
              <a:t>seasonality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in subscriber base or revenue metrics.</a:t>
            </a:r>
            <a:endParaRPr lang="en-IN" sz="2000" b="1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Date Components: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year and month to enable grouping and time-series visualization.</a:t>
            </a:r>
            <a:endParaRPr lang="en-IN" sz="2000" b="1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Circle Type: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Classified circles into </a:t>
            </a: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Metro</a:t>
            </a: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 and </a:t>
            </a: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Non-Metro</a:t>
            </a: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 categories. 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Enables differentiation of market maturity and customer churn patterns.</a:t>
            </a:r>
            <a:endParaRPr lang="en-IN" sz="2000" b="1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Connection Type: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Binary encoded type of connection: is_wireless = 1 if “wireless”, else 0. Provides separation between broadband and mobile markets.</a:t>
            </a:r>
            <a:endParaRPr lang="en-IN" sz="2000" b="1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Operator Geographic Diversity: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Measured how widely each operator is present, Indicates national reach and resilience to localized churn.</a:t>
            </a:r>
            <a:endParaRPr lang="en-IN" sz="2000" b="1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Market Size Category: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Ranked circles based on their cumulative market volume, Helps distinguish between large and small telecom markets.</a:t>
            </a:r>
            <a:endParaRPr lang="en-IN" sz="2000" b="1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Competitive &amp; Market Dynamics Features: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market_share = share of each operator’s value within its circle per month,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market_rank = rank of operator based on share in that circle and month. Provides relative standing among competitors.</a:t>
            </a:r>
            <a:endParaRPr lang="en-IN" sz="2000" b="1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748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0342-97AD-EC1C-51FD-EC2D6CAB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B1462607-DE1A-6CF0-74AC-8E3AB017DA75}"/>
              </a:ext>
            </a:extLst>
          </p:cNvPr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0F3ADB9-DE3B-96C6-4892-FEB84AE58CFE}"/>
              </a:ext>
            </a:extLst>
          </p:cNvPr>
          <p:cNvSpPr/>
          <p:nvPr/>
        </p:nvSpPr>
        <p:spPr>
          <a:xfrm>
            <a:off x="-3412" y="8953500"/>
            <a:ext cx="5826380" cy="1308257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D9D6FFF-7F4F-B025-AB63-1358DD191EE9}"/>
              </a:ext>
            </a:extLst>
          </p:cNvPr>
          <p:cNvSpPr/>
          <p:nvPr/>
        </p:nvSpPr>
        <p:spPr>
          <a:xfrm flipH="1" flipV="1">
            <a:off x="12461620" y="0"/>
            <a:ext cx="5826380" cy="1520433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8CE379-0408-E99C-30B9-3E467F13CD5C}"/>
              </a:ext>
            </a:extLst>
          </p:cNvPr>
          <p:cNvSpPr txBox="1"/>
          <p:nvPr/>
        </p:nvSpPr>
        <p:spPr>
          <a:xfrm>
            <a:off x="639480" y="961520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2"/>
                </a:solidFill>
                <a:latin typeface="Montserrat" panose="00000500000000000000" pitchFamily="2" charset="0"/>
              </a:rPr>
              <a:t>Derived Market Indicators</a:t>
            </a:r>
            <a:endParaRPr lang="en-US" sz="3600" b="1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6BD244-D56A-F09E-DCE6-6B8F350C2036}"/>
              </a:ext>
            </a:extLst>
          </p:cNvPr>
          <p:cNvSpPr txBox="1"/>
          <p:nvPr/>
        </p:nvSpPr>
        <p:spPr>
          <a:xfrm>
            <a:off x="1219200" y="2019300"/>
            <a:ext cx="122682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Herfindahl–Hirschman Index (HHI)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Measures market concentration: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High HHI → few dominant players (less competitive).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Low HHI → more fragmented market (high competition).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Used to assess circle-level competitiveness.</a:t>
            </a:r>
          </a:p>
          <a:p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Market  Composition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Shows how market share is distributed among operators and circles.</a:t>
            </a:r>
            <a:b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</a:b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Helps identify dominant players, competitive intensity, and regions with potential churn risk or market opportunity.</a:t>
            </a:r>
          </a:p>
          <a:p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Volatility and  Stability Indicators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Measure the consistency of market share and rank movements over time.</a:t>
            </a:r>
            <a:b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</a:b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Higher volatility indicates unstable markets with high churn potential and shifting competitive positions.</a:t>
            </a:r>
            <a:endParaRPr lang="en-IN" sz="2000" b="1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Feature Aggregations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Aggregate and transform existing variables to extract meaningful trends.</a:t>
            </a:r>
            <a:b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</a:b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Examples include lag ratios or combined indices (HHI + churn) to classify markets as stable, competitive, or volatile.</a:t>
            </a:r>
            <a:endParaRPr lang="en-IN" sz="2000" b="1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Churn Severity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Montserrat" panose="00000500000000000000" pitchFamily="2" charset="0"/>
              </a:rPr>
              <a:t>Quantifies market instability: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High values indicate rapid loss/gain of market share.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Aggregated at operator-circle level to prioritize high-risk zones.</a:t>
            </a:r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6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55FCB-763F-6C91-1BAA-2BC572AEB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4A66DAC6-FD8C-2C20-03EB-967D8FC6090A}"/>
              </a:ext>
            </a:extLst>
          </p:cNvPr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F682849-4676-4EE1-7140-8CB337630C1B}"/>
              </a:ext>
            </a:extLst>
          </p:cNvPr>
          <p:cNvSpPr/>
          <p:nvPr/>
        </p:nvSpPr>
        <p:spPr>
          <a:xfrm>
            <a:off x="-3412" y="8953500"/>
            <a:ext cx="5826380" cy="1308257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6D1864C-8590-98A1-31BD-933B9BD0D6A8}"/>
              </a:ext>
            </a:extLst>
          </p:cNvPr>
          <p:cNvSpPr/>
          <p:nvPr/>
        </p:nvSpPr>
        <p:spPr>
          <a:xfrm flipH="1" flipV="1">
            <a:off x="12461620" y="0"/>
            <a:ext cx="5826380" cy="1520433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3CFC54-62CE-65DB-C8DC-3DF87FCEA80F}"/>
              </a:ext>
            </a:extLst>
          </p:cNvPr>
          <p:cNvSpPr txBox="1"/>
          <p:nvPr/>
        </p:nvSpPr>
        <p:spPr>
          <a:xfrm>
            <a:off x="9037905" y="7491430"/>
            <a:ext cx="9116987" cy="1577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30" b="1" dirty="0">
                <a:solidFill>
                  <a:schemeClr val="tx2"/>
                </a:solidFill>
                <a:latin typeface="Montserrat" panose="00000500000000000000" pitchFamily="2" charset="0"/>
              </a:rPr>
              <a:t>Major operators are experiencing a significantly higher churn rate compared to regional 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30" b="1" dirty="0">
                <a:solidFill>
                  <a:schemeClr val="tx2"/>
                </a:solidFill>
                <a:latin typeface="Montserrat" panose="00000500000000000000" pitchFamily="2" charset="0"/>
              </a:rPr>
              <a:t>Despite strong brand presence, about 1 in 3 customers of major players are discontinuing service month-over-month.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930" b="1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45ECD7-ACE1-9E35-46C5-67DB4AD81A4C}"/>
              </a:ext>
            </a:extLst>
          </p:cNvPr>
          <p:cNvSpPr txBox="1"/>
          <p:nvPr/>
        </p:nvSpPr>
        <p:spPr>
          <a:xfrm>
            <a:off x="1120243" y="7491430"/>
            <a:ext cx="7412643" cy="1280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30" b="1" dirty="0">
                <a:solidFill>
                  <a:schemeClr val="tx2"/>
                </a:solidFill>
                <a:latin typeface="Montserrat" panose="00000500000000000000" pitchFamily="2" charset="0"/>
              </a:rPr>
              <a:t>The majority (26,205) are </a:t>
            </a:r>
            <a:r>
              <a:rPr lang="en-US" sz="1930" b="1" i="1" dirty="0">
                <a:solidFill>
                  <a:schemeClr val="tx2"/>
                </a:solidFill>
                <a:latin typeface="Montserrat" panose="00000500000000000000" pitchFamily="2" charset="0"/>
              </a:rPr>
              <a:t>Stable</a:t>
            </a:r>
            <a:r>
              <a:rPr lang="en-US" sz="1930" b="1" dirty="0">
                <a:solidFill>
                  <a:schemeClr val="tx2"/>
                </a:solidFill>
                <a:latin typeface="Montserrat" panose="00000500000000000000" pitchFamily="2" charset="0"/>
              </a:rPr>
              <a:t>, which is good for the company.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30" b="1" dirty="0">
                <a:solidFill>
                  <a:schemeClr val="tx2"/>
                </a:solidFill>
                <a:latin typeface="Montserrat" panose="00000500000000000000" pitchFamily="2" charset="0"/>
              </a:rPr>
              <a:t>But 11,110 customers (≈ 28%) are </a:t>
            </a:r>
            <a:r>
              <a:rPr lang="en-US" sz="1930" b="1" i="1" dirty="0">
                <a:solidFill>
                  <a:schemeClr val="tx2"/>
                </a:solidFill>
                <a:latin typeface="Montserrat" panose="00000500000000000000" pitchFamily="2" charset="0"/>
              </a:rPr>
              <a:t>High churn risk</a:t>
            </a:r>
            <a:r>
              <a:rPr lang="en-US" sz="1930" b="1" dirty="0">
                <a:solidFill>
                  <a:schemeClr val="tx2"/>
                </a:solidFill>
                <a:latin typeface="Montserrat" panose="00000500000000000000" pitchFamily="2" charset="0"/>
              </a:rPr>
              <a:t>, which is significant and needs attention.</a:t>
            </a:r>
            <a:endParaRPr lang="en-IN" sz="1930" b="1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2F4E77-9022-EF10-0C39-330D680C00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38" y="2519144"/>
            <a:ext cx="8411749" cy="47905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9A0902-F096-A6D5-4942-15F96541CF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2440824"/>
            <a:ext cx="8193133" cy="49487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4B6676-CF86-7AA5-5F5F-EE391AE05683}"/>
              </a:ext>
            </a:extLst>
          </p:cNvPr>
          <p:cNvSpPr txBox="1"/>
          <p:nvPr/>
        </p:nvSpPr>
        <p:spPr>
          <a:xfrm>
            <a:off x="762000" y="875356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- Churn Categories</a:t>
            </a:r>
            <a:endParaRPr lang="en-IN" sz="3600" b="1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968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929A21-F2C0-93D0-45D6-50CF59249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5300"/>
            <a:ext cx="13079796" cy="7315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1FE49E-38FB-DC2E-395F-3CE279D8FB52}"/>
              </a:ext>
            </a:extLst>
          </p:cNvPr>
          <p:cNvSpPr txBox="1"/>
          <p:nvPr/>
        </p:nvSpPr>
        <p:spPr>
          <a:xfrm>
            <a:off x="685800" y="7810500"/>
            <a:ext cx="6629400" cy="224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Top 10 Circles Churn Analysis: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Highest Churn: Jharkhand (0.444)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Average Churn (Top 10): 0.315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Range: 0.293 - 0.444</a:t>
            </a:r>
            <a:endParaRPr lang="en-IN" sz="2400" b="1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586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7808C-6847-D7C8-2E2F-780334E22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05924"/>
            <a:ext cx="9296400" cy="45607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D8B50A-F36B-B475-8E03-2AFA2C9CB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542" y="5439135"/>
            <a:ext cx="8915400" cy="4729407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58B50AB-3512-5007-7790-9785BA08B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9599" y="2109045"/>
            <a:ext cx="62484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Shows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month-over-month subscriber growth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across different telecom circles in India.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Indicates 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Bihar, Maharashtra, and All-India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circles have the highest growth spikes.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The chart highlights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regional variations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, showing stronger growth in some circles compared to others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FAFC2A4-AB1F-0F00-7F95-147122186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6806382"/>
            <a:ext cx="668347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Compares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year-over-year growth rates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of major telecom operators — Jio, Airtel, Vodafone Idea, and BSNL.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Reliance Jio and Vodafone Idea show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sharp spikes around 2020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, indicating aggressive expansion or subscriber gains.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Airtel shows moderate but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stable growth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, while BSNL remains comparatively flat.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DE6731-20B0-4CB4-63A6-80D2D9025160}"/>
              </a:ext>
            </a:extLst>
          </p:cNvPr>
          <p:cNvCxnSpPr>
            <a:cxnSpLocks/>
          </p:cNvCxnSpPr>
          <p:nvPr/>
        </p:nvCxnSpPr>
        <p:spPr>
          <a:xfrm flipH="1">
            <a:off x="10667999" y="1943100"/>
            <a:ext cx="6480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B4640F-C02A-0951-946F-6CC7231293D8}"/>
              </a:ext>
            </a:extLst>
          </p:cNvPr>
          <p:cNvCxnSpPr>
            <a:cxnSpLocks/>
          </p:cNvCxnSpPr>
          <p:nvPr/>
        </p:nvCxnSpPr>
        <p:spPr>
          <a:xfrm>
            <a:off x="1219199" y="6667500"/>
            <a:ext cx="66834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ED29A50-B22C-534A-4C72-6F40296818A8}"/>
              </a:ext>
            </a:extLst>
          </p:cNvPr>
          <p:cNvSpPr txBox="1"/>
          <p:nvPr/>
        </p:nvSpPr>
        <p:spPr>
          <a:xfrm>
            <a:off x="609600" y="266700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- Growth Comparisons</a:t>
            </a:r>
            <a:endParaRPr lang="en-IN" sz="3600" b="1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283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136D8F-F992-9DBB-CE65-B5B63F025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16" y="1036426"/>
            <a:ext cx="8077200" cy="44343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867E51-E29E-B1C7-88A4-6B3CCEFFA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97" y="5753100"/>
            <a:ext cx="8077201" cy="4325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39847-7D39-990E-945F-9696544B5C2D}"/>
              </a:ext>
            </a:extLst>
          </p:cNvPr>
          <p:cNvSpPr txBox="1"/>
          <p:nvPr/>
        </p:nvSpPr>
        <p:spPr>
          <a:xfrm>
            <a:off x="10058400" y="1959505"/>
            <a:ext cx="7155426" cy="3167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Reliance Jio (green) rises sharply around 2016–2018, overtaking competitors.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Bharti Airtel and Vodafone Idea fluctuate but remain relatively stable before Jio’s entry.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BSNL shows a steady decline in market share over the years.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Operators losing market share consistently (BSNL, Vodafone Idea at times) are more likely to experience subscriber churn.</a:t>
            </a:r>
          </a:p>
          <a:p>
            <a:endParaRPr lang="en-IN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381EFF9-949D-4126-B52A-418185002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0" y="6743700"/>
            <a:ext cx="7086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Tracks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market position (1 = leader)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of each telecom provider over 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Reliance Jio rapidly climbed to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top rank after 2016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, overtaking others.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Vodafone Idea’s rank shows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declining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, while Airtel maintains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steady competitiveness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BSNL has remained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lower-ranked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throughout the observed period.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CB3D3-91FB-5A5D-1358-7E092BCA34D2}"/>
              </a:ext>
            </a:extLst>
          </p:cNvPr>
          <p:cNvSpPr txBox="1"/>
          <p:nvPr/>
        </p:nvSpPr>
        <p:spPr>
          <a:xfrm>
            <a:off x="727587" y="145912"/>
            <a:ext cx="8052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- Market Trends</a:t>
            </a:r>
            <a:endParaRPr lang="en-IN" sz="3600" b="1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968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0A264-384A-992F-F1BE-9B401C48E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88" y="1828167"/>
            <a:ext cx="7559312" cy="50679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D5F6F4-6FB8-0E2D-2CDA-C9548CC80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8515"/>
            <a:ext cx="9099756" cy="58543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6E18EF-F95D-368B-8AFE-D0A639F3C16B}"/>
              </a:ext>
            </a:extLst>
          </p:cNvPr>
          <p:cNvSpPr txBox="1"/>
          <p:nvPr/>
        </p:nvSpPr>
        <p:spPr>
          <a:xfrm>
            <a:off x="8686800" y="7132831"/>
            <a:ext cx="9099755" cy="2770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BSNL covers 35 circles, which is higher than all other operators.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Bharti Airtel operates in 28 circles, slightly fewer than BSNL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Operators with greater geographic diversity (BSNL, Airtel) potentially have a larger market reach and can capture more subscribers.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Operators with fewer circles (Jio, Vodafone Idea) may focus on densely populated or profitable circles rather than blanket coverage.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6413F89-1D54-5097-43A6-8721A4E98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168473"/>
            <a:ext cx="7162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Compares total subscriber counts between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Metro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Non-Metro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circles.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Non-Metro regions dominate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a significantly larger subscriber 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Highlights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strong rural and semi-urban market presence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for telecom operators.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58422-FC38-DBB5-9DBE-696708CFF3F2}"/>
              </a:ext>
            </a:extLst>
          </p:cNvPr>
          <p:cNvSpPr txBox="1"/>
          <p:nvPr/>
        </p:nvSpPr>
        <p:spPr>
          <a:xfrm>
            <a:off x="609600" y="266700"/>
            <a:ext cx="9099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- Subscribers and Operator Diversity</a:t>
            </a:r>
            <a:endParaRPr lang="en-IN" sz="3600" b="1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621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68A15977-FCB5-BEEB-7046-3E265A66B921}"/>
              </a:ext>
            </a:extLst>
          </p:cNvPr>
          <p:cNvSpPr txBox="1"/>
          <p:nvPr/>
        </p:nvSpPr>
        <p:spPr>
          <a:xfrm>
            <a:off x="533400" y="495300"/>
            <a:ext cx="1348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2">
                    <a:lumMod val="50000"/>
                  </a:schemeClr>
                </a:solidFill>
                <a:latin typeface="Montserrat Bold" panose="020B0604020202020204" charset="0"/>
              </a:rPr>
              <a:t>Model Deployment and Validation</a:t>
            </a:r>
            <a:endParaRPr lang="en-IN" sz="5400" b="1" dirty="0">
              <a:solidFill>
                <a:schemeClr val="tx2">
                  <a:lumMod val="50000"/>
                </a:schemeClr>
              </a:solidFill>
              <a:latin typeface="Montserrat Bold" panose="020B0604020202020204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8C09122A-D36B-0B7D-8133-5B7C68517CDF}"/>
              </a:ext>
            </a:extLst>
          </p:cNvPr>
          <p:cNvSpPr/>
          <p:nvPr/>
        </p:nvSpPr>
        <p:spPr>
          <a:xfrm>
            <a:off x="-3412" y="8953500"/>
            <a:ext cx="5826380" cy="1308257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4DE5A9EA-C1B0-F14A-E111-B53437413916}"/>
              </a:ext>
            </a:extLst>
          </p:cNvPr>
          <p:cNvSpPr/>
          <p:nvPr/>
        </p:nvSpPr>
        <p:spPr>
          <a:xfrm flipH="1" flipV="1">
            <a:off x="12461620" y="0"/>
            <a:ext cx="5826380" cy="1520433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79CFA-272F-494F-D9AF-9003574EF8D5}"/>
              </a:ext>
            </a:extLst>
          </p:cNvPr>
          <p:cNvSpPr txBox="1"/>
          <p:nvPr/>
        </p:nvSpPr>
        <p:spPr>
          <a:xfrm>
            <a:off x="533400" y="4896103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Cross-Validation Setup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Used Time Series Split (5 folds)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Metrics: Accuracy, F1-score, ROC-AUC.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Purpose: to ensure robustness and avoid data leakage.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BBE5D-65FF-0C82-B6AE-F9DF15F5FF76}"/>
              </a:ext>
            </a:extLst>
          </p:cNvPr>
          <p:cNvSpPr txBox="1"/>
          <p:nvPr/>
        </p:nvSpPr>
        <p:spPr>
          <a:xfrm>
            <a:off x="533400" y="2003204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Models Used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Random Forest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XG Boost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Light GBM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Cat Boost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Artificial Neural Network (ANN)</a:t>
            </a:r>
          </a:p>
        </p:txBody>
      </p:sp>
    </p:spTree>
    <p:extLst>
      <p:ext uri="{BB962C8B-B14F-4D97-AF65-F5344CB8AC3E}">
        <p14:creationId xmlns:p14="http://schemas.microsoft.com/office/powerpoint/2010/main" val="2862802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BAA4B9-2179-B5F7-D594-41DCBD00CF8B}"/>
              </a:ext>
            </a:extLst>
          </p:cNvPr>
          <p:cNvSpPr txBox="1"/>
          <p:nvPr/>
        </p:nvSpPr>
        <p:spPr>
          <a:xfrm>
            <a:off x="457200" y="342900"/>
            <a:ext cx="693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Random Forest :</a:t>
            </a:r>
            <a:endParaRPr lang="en-IN" sz="5400" b="1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A056E2-8810-3175-15D8-154892265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404" y="1186696"/>
            <a:ext cx="4988932" cy="4334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84F1C8-09D0-FBD6-8854-030BE028E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940941"/>
            <a:ext cx="10134600" cy="41380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0A455D-E666-AC83-1A66-7E2C5086F1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463" y="5940941"/>
            <a:ext cx="5801538" cy="41380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BCC9AA-3CDC-D801-52BC-AA59044CDFEA}"/>
              </a:ext>
            </a:extLst>
          </p:cNvPr>
          <p:cNvSpPr txBox="1"/>
          <p:nvPr/>
        </p:nvSpPr>
        <p:spPr>
          <a:xfrm>
            <a:off x="498987" y="1237962"/>
            <a:ext cx="49805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Metrics: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Accuracy: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0.9679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F1-score: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0.9158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ROC-AUC: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0.9685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Precision: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0.9158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Recall: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0.9164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Precision@Top10%: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0.9536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41C094D-212F-EE0C-CAAD-61B607957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819" y="3212842"/>
            <a:ext cx="1224853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The Random Forest model achieved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high overall accuracy (96.8%)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with balanced precision and recall (~91%).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confusion matrix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shows very few misclassifications, confirming strong reliability.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ROC curve (AUC = 1.0)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Precision–Recall curve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indicate near-perfect discrimination between classes.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AUC stability across folds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proves the model’s consistency and robustness over time.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Overall, Random Forest demonstrates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excellent predictive performance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and serves 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reliable baseline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736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B648AA-1CB7-043B-CCA1-F32BE730EDA9}"/>
              </a:ext>
            </a:extLst>
          </p:cNvPr>
          <p:cNvSpPr txBox="1"/>
          <p:nvPr/>
        </p:nvSpPr>
        <p:spPr>
          <a:xfrm>
            <a:off x="381000" y="266700"/>
            <a:ext cx="594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XG Boost :</a:t>
            </a:r>
            <a:endParaRPr lang="en-IN" sz="5400" b="1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343E9-4EB9-72F1-40C1-1E2B9691C92C}"/>
              </a:ext>
            </a:extLst>
          </p:cNvPr>
          <p:cNvSpPr txBox="1"/>
          <p:nvPr/>
        </p:nvSpPr>
        <p:spPr>
          <a:xfrm>
            <a:off x="381000" y="1185441"/>
            <a:ext cx="3962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Accuracy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    : 0.9675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F1-score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    : 0.9135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ROC-AUC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    : 0.9755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Precision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    : 0.9005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Recall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     : 0.9275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Precision@Top10% 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: 0.9963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FF6AED9-4F61-6850-AB97-26489B74D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32" y="3086100"/>
            <a:ext cx="12420600" cy="1707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XGBoost 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excellent accuracy (96.7%)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with a strong F1-score (0.9135) and high recall (0.9275).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confusion matrix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shows very few false predictions, proving the model’s reliability.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ROC Curve (AUC = 1.0)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Precision–Recall curve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reflect near-perfect classification capability.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AUC stability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indicates consistent performance across time folds with minor variation in one fold.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F1D85F-F54B-4EE9-7EDF-AEEB5A768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0" y="680884"/>
            <a:ext cx="5048973" cy="4413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2B637E-0146-7B98-3C69-98348FA6B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90" y="5294201"/>
            <a:ext cx="10862979" cy="44615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1E0FBB-D74C-760E-DFCA-28FFA03740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0"/>
          <a:stretch>
            <a:fillRect/>
          </a:stretch>
        </p:blipFill>
        <p:spPr>
          <a:xfrm>
            <a:off x="11894415" y="5516152"/>
            <a:ext cx="5886985" cy="412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7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4971C-C476-C27F-F492-2C95402E45E1}"/>
              </a:ext>
            </a:extLst>
          </p:cNvPr>
          <p:cNvSpPr txBox="1"/>
          <p:nvPr/>
        </p:nvSpPr>
        <p:spPr>
          <a:xfrm>
            <a:off x="457200" y="342900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LightGBM :</a:t>
            </a:r>
            <a:endParaRPr lang="en-IN" sz="5400" b="1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6F4448F-1878-3FF6-402F-2D73B2F6C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50253"/>
            <a:ext cx="38862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Metrics :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Accuracy 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0.9721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F1-score 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0.9251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ROC-AUC 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0.9767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Precision 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0.9250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Recall 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0.9258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Precision@Top10% 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0.9823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CA0656E-3C7F-C8DF-1980-7987448D1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81578"/>
            <a:ext cx="124968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LightGBM delivered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excellent predictive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with an overall accuracy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97.2%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and a strong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F1-score of 0.9251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ROC-AUC of 0.9767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indicates outstanding model discrimination between classes.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Precision (0.9250)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Recall (0.9258)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show a well-balanced detection of both positive and negative cases.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Precision@Top10% of 0.9823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demonstrates high reliability in top predictions.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Performance remained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stable across time folds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, confirming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LightGBM’s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robustness and consistency over temporal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9B07E5-404C-9ADA-9CC8-35583072F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6"/>
          <a:stretch>
            <a:fillRect/>
          </a:stretch>
        </p:blipFill>
        <p:spPr>
          <a:xfrm>
            <a:off x="12917129" y="1136008"/>
            <a:ext cx="4817178" cy="41328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39D6DA-1B82-1964-5820-795D295E1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1" y="5829300"/>
            <a:ext cx="10439400" cy="4228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192DC7-C5C0-AB31-8D44-2556BC863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600" y="5799830"/>
            <a:ext cx="5624717" cy="405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8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0F9908-ED74-4938-0AE6-C8222192FDE1}"/>
              </a:ext>
            </a:extLst>
          </p:cNvPr>
          <p:cNvSpPr txBox="1"/>
          <p:nvPr/>
        </p:nvSpPr>
        <p:spPr>
          <a:xfrm>
            <a:off x="383458" y="305453"/>
            <a:ext cx="449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CatBoost :</a:t>
            </a:r>
            <a:endParaRPr lang="en-IN" sz="5400" b="1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08D53-65CF-7743-5873-814D830B7CA4}"/>
              </a:ext>
            </a:extLst>
          </p:cNvPr>
          <p:cNvSpPr txBox="1"/>
          <p:nvPr/>
        </p:nvSpPr>
        <p:spPr>
          <a:xfrm>
            <a:off x="533400" y="1279827"/>
            <a:ext cx="9144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Accuracy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: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0.9673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F1-score: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0.9160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ROC-AUC: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0.9708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Precision: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0.9127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Recall: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0.9199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Precision@Top10%: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0.9536</a:t>
            </a:r>
            <a:endParaRPr lang="en-IN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684CC26-DC90-DF3A-38B3-C9049834E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351135"/>
            <a:ext cx="123444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CatBoost 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very strong classification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with balanced precision and recall values.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ROC-AUC score (0.9708)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indicates excellent model discrimination capability between classes.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Confusion matrix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minimal false positives and false negatives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, highlighting model reliability.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Time-fold AUC stability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remains consistently high, showing robustness across temporal splits.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Overall, CatBoost performs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comparably to Random Forest and LightGBM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, maintaining high predictive accuracy and generalization.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596E59-49BE-3516-8D64-269B9039A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16" y="5582407"/>
            <a:ext cx="10632284" cy="42736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13A138-6EEF-ED04-48AF-838CAB27C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069" y="5753100"/>
            <a:ext cx="5701415" cy="41029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E19FC6-5E8A-EA54-F7CF-55223DB5FB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0727" y="858467"/>
            <a:ext cx="5186273" cy="450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66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2BA639-B72B-CA24-2919-31FC3C4A5FBF}"/>
              </a:ext>
            </a:extLst>
          </p:cNvPr>
          <p:cNvSpPr txBox="1"/>
          <p:nvPr/>
        </p:nvSpPr>
        <p:spPr>
          <a:xfrm>
            <a:off x="304800" y="266700"/>
            <a:ext cx="14104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Artificial Neural Network (ANN) :</a:t>
            </a:r>
            <a:endParaRPr lang="en-IN" sz="5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E582A3-2166-F20A-2CD5-99352F6E8F5C}"/>
              </a:ext>
            </a:extLst>
          </p:cNvPr>
          <p:cNvSpPr txBox="1"/>
          <p:nvPr/>
        </p:nvSpPr>
        <p:spPr>
          <a:xfrm>
            <a:off x="381000" y="1210924"/>
            <a:ext cx="12420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Metrics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Accuracy: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0.8988</a:t>
            </a:r>
            <a:endParaRPr lang="en-US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F1-score: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0.8080</a:t>
            </a:r>
            <a:endParaRPr lang="en-US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ROC-AUC: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0.9171</a:t>
            </a:r>
            <a:endParaRPr lang="en-US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Precision: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0.8124</a:t>
            </a:r>
            <a:endParaRPr lang="en-US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Recall: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0.8236</a:t>
            </a:r>
            <a:endParaRPr lang="en-US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Precision@Top10%: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0.8100</a:t>
            </a:r>
            <a:endParaRPr lang="en-US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The ANN model achieved a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good balance between precision and recall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, indicating stable classification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The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ROC-AUC of 0.9171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shows strong capability in distinguishing between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Slightly lower recall suggests some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false negatives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, but overall predictions remain consistent.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Confusion matrix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shows minimal false positives, meaning the model avoids overpredicting the positive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Model performance is slightly lower than CatBoost, but still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reliable for real-world prediction scenarios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3E4690-2D68-C648-491A-0351FDD14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0" y="952499"/>
            <a:ext cx="5224862" cy="4505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73D13C-D117-CF06-917E-4A4C43885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5530536"/>
            <a:ext cx="11040855" cy="450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27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5591F-D1D2-D14A-3E36-392D44552863}"/>
              </a:ext>
            </a:extLst>
          </p:cNvPr>
          <p:cNvSpPr txBox="1"/>
          <p:nvPr/>
        </p:nvSpPr>
        <p:spPr>
          <a:xfrm>
            <a:off x="457200" y="419100"/>
            <a:ext cx="632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SHAP Analysis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EC6C78-A445-AAF5-0405-DC0E7D370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50747"/>
            <a:ext cx="5638800" cy="6193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648A83-E482-BB16-8272-551B77D72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32" y="178325"/>
            <a:ext cx="5867400" cy="642371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7B8E73C-FF1D-CE4F-8468-C279EB7A7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974852"/>
            <a:ext cx="1084743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Top Drivers: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value_lag_1, type_of_connection and value are the most influential features shaping the model’s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Temporal Impact: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Lag features (value_lag_1, value_lag_3, value_lag_6) show strong time-dependence — recent past values greatly affect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Connection &amp; Market Factors: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type_of_connection, is_wireless, and market_rank significantly influence prediction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Moderate Influencers: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relative_performance, market_share, and operator_geographic_diversity add supporting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Low-Impact Features: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Variables like month, year, and circle_type have minimal effect on model output.</a:t>
            </a:r>
          </a:p>
        </p:txBody>
      </p:sp>
    </p:spTree>
    <p:extLst>
      <p:ext uri="{BB962C8B-B14F-4D97-AF65-F5344CB8AC3E}">
        <p14:creationId xmlns:p14="http://schemas.microsoft.com/office/powerpoint/2010/main" val="1030517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19411A-0CA4-616A-79A6-BA918725E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63690"/>
            <a:ext cx="6553201" cy="4423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D7046A-F86E-ADE0-9EEF-6A8806B52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1525153"/>
            <a:ext cx="6553200" cy="4338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4DEA50-229D-D5DE-03E6-0677ECA94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530" y="5863444"/>
            <a:ext cx="6553200" cy="43025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570DED-5C31-518A-944B-6392A32CFE9A}"/>
              </a:ext>
            </a:extLst>
          </p:cNvPr>
          <p:cNvSpPr txBox="1"/>
          <p:nvPr/>
        </p:nvSpPr>
        <p:spPr>
          <a:xfrm>
            <a:off x="304800" y="240251"/>
            <a:ext cx="1089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</a:p>
          <a:p>
            <a:r>
              <a:rPr lang="en-US" sz="4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Model Comparison Charts : </a:t>
            </a:r>
            <a:endParaRPr lang="en-IN" sz="4000" b="1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883D6-D790-9B05-9977-ED89C6C6442B}"/>
              </a:ext>
            </a:extLst>
          </p:cNvPr>
          <p:cNvSpPr txBox="1"/>
          <p:nvPr/>
        </p:nvSpPr>
        <p:spPr>
          <a:xfrm>
            <a:off x="4793226" y="121041"/>
            <a:ext cx="9158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Overall Model Comparison </a:t>
            </a:r>
            <a:endParaRPr lang="en-IN" sz="4800" b="1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594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80EEA5-B943-7FA4-25C2-BB534368A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638300"/>
            <a:ext cx="10461605" cy="5121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1B4DEB-E5C6-09A1-A4F7-25A24A29A8F5}"/>
              </a:ext>
            </a:extLst>
          </p:cNvPr>
          <p:cNvSpPr txBox="1"/>
          <p:nvPr/>
        </p:nvSpPr>
        <p:spPr>
          <a:xfrm>
            <a:off x="1333500" y="6438900"/>
            <a:ext cx="15621000" cy="335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The darker the color, the better the model performance.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Light GBM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stands out as the overall best performer across all metrics (Accuracy, F1, ROC-AUC).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Random Forest, XG Boost, and Cat Boost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perform similarly and form a close second tier.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ANN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 clearly underperforms, visible from its lighter color blocks — confirming weaker overall results.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B57EE9-ACD0-725A-02B9-B2235B84460C}"/>
              </a:ext>
            </a:extLst>
          </p:cNvPr>
          <p:cNvSpPr txBox="1"/>
          <p:nvPr/>
        </p:nvSpPr>
        <p:spPr>
          <a:xfrm>
            <a:off x="533400" y="342900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Model Performance Heatmap</a:t>
            </a:r>
          </a:p>
        </p:txBody>
      </p:sp>
    </p:spTree>
    <p:extLst>
      <p:ext uri="{BB962C8B-B14F-4D97-AF65-F5344CB8AC3E}">
        <p14:creationId xmlns:p14="http://schemas.microsoft.com/office/powerpoint/2010/main" val="1783534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A86A82-5593-CF76-B029-AD191FEF9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333500"/>
            <a:ext cx="14128236" cy="579120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4DF5647-06E8-0DEE-06C5-2DC2936C4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7370387"/>
            <a:ext cx="16306800" cy="234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ROC Curve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shows a strong performance with AUC ≈ 0.93 — the curve hugs the top-left corner, meaning high true positive rate and low false positive rate.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Precision-Recall Curve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 maintains high precision for most recall values, indicating the model performs well even on imbalanced data.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Montserrat" panose="00000500000000000000" pitchFamily="2" charset="0"/>
              </a:rPr>
              <a:t>Together, these curves validate the model’s reliability and robustness beyond simple accuracy metrics.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672B3-A0A7-B01B-BAAF-8DEAFDBD90FB}"/>
              </a:ext>
            </a:extLst>
          </p:cNvPr>
          <p:cNvSpPr txBox="1"/>
          <p:nvPr/>
        </p:nvSpPr>
        <p:spPr>
          <a:xfrm>
            <a:off x="533400" y="290104"/>
            <a:ext cx="105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ROC and Precision-Recall Curves</a:t>
            </a:r>
          </a:p>
        </p:txBody>
      </p:sp>
    </p:spTree>
    <p:extLst>
      <p:ext uri="{BB962C8B-B14F-4D97-AF65-F5344CB8AC3E}">
        <p14:creationId xmlns:p14="http://schemas.microsoft.com/office/powerpoint/2010/main" val="849276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158D30-BC10-86DE-F9B6-C94B67036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9" t="10890" r="4001" b="8222"/>
          <a:stretch>
            <a:fillRect/>
          </a:stretch>
        </p:blipFill>
        <p:spPr>
          <a:xfrm>
            <a:off x="1600200" y="1144290"/>
            <a:ext cx="14173200" cy="8956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1C4374-5CEC-8ED9-003C-558856C6D321}"/>
              </a:ext>
            </a:extLst>
          </p:cNvPr>
          <p:cNvSpPr txBox="1"/>
          <p:nvPr/>
        </p:nvSpPr>
        <p:spPr>
          <a:xfrm>
            <a:off x="5829300" y="186035"/>
            <a:ext cx="662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Churn Records</a:t>
            </a:r>
            <a:endParaRPr lang="en-IN" sz="54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724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06DFA-AFB2-6654-0C7E-0A855D8B4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2989398-CE41-CAAC-EC47-4C63142D39FE}"/>
              </a:ext>
            </a:extLst>
          </p:cNvPr>
          <p:cNvSpPr txBox="1"/>
          <p:nvPr/>
        </p:nvSpPr>
        <p:spPr>
          <a:xfrm>
            <a:off x="3741761" y="1028700"/>
            <a:ext cx="105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tx2"/>
                </a:solidFill>
                <a:latin typeface="Montserrat" panose="00000500000000000000" pitchFamily="2" charset="0"/>
              </a:rPr>
              <a:t>Conclusion &amp; Business Impact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044CDE-8262-E279-396B-B80512F27092}"/>
              </a:ext>
            </a:extLst>
          </p:cNvPr>
          <p:cNvSpPr txBox="1"/>
          <p:nvPr/>
        </p:nvSpPr>
        <p:spPr>
          <a:xfrm>
            <a:off x="3733800" y="3009900"/>
            <a:ext cx="105918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Key Takeaways: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The developed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market churn analytics pipeline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achieved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&gt;97% accuracy and ~0.98 ROC-AUC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, proving strong predictive capability.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Lag-based temporal features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and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competitive indicators (HHI, market rank, churn severity)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were the most influential drivers of churn.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The model effectively highlights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high-risk operator–circle combinations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, enabling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targeted retention and marketing strategies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Business Value: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Supports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data-driven decisions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for customer retention, market expansion, and pricing optimization.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Provides a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dashboard-ready framework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for continuous monitoring of churn trends and competitive movements.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Offers </a:t>
            </a:r>
            <a:r>
              <a:rPr lang="en-US" sz="2000" b="1" dirty="0">
                <a:solidFill>
                  <a:schemeClr val="tx2"/>
                </a:solidFill>
                <a:latin typeface="Montserrat" panose="00000500000000000000" pitchFamily="2" charset="0"/>
              </a:rPr>
              <a:t>ROI-focused insights</a:t>
            </a:r>
            <a:r>
              <a:rPr lang="en-US" sz="2000" dirty="0">
                <a:solidFill>
                  <a:schemeClr val="tx2"/>
                </a:solidFill>
                <a:latin typeface="Montserrat" panose="00000500000000000000" pitchFamily="2" charset="0"/>
              </a:rPr>
              <a:t> by identifying circles with the highest potential revenue loss or gain.</a:t>
            </a:r>
          </a:p>
          <a:p>
            <a:endParaRPr lang="en-IN" sz="2000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457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1600" y="4624801"/>
            <a:ext cx="9949959" cy="1704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356"/>
              </a:lnSpc>
            </a:pPr>
            <a:r>
              <a:rPr lang="en-US" sz="11130" b="1" spc="77" dirty="0">
                <a:solidFill>
                  <a:srgbClr val="08377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You!!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8298644" y="294713"/>
            <a:ext cx="10292752" cy="9685960"/>
          </a:xfrm>
          <a:custGeom>
            <a:avLst/>
            <a:gdLst/>
            <a:ahLst/>
            <a:cxnLst/>
            <a:rect l="l" t="t" r="r" b="b"/>
            <a:pathLst>
              <a:path w="14626818" h="8111235">
                <a:moveTo>
                  <a:pt x="0" y="0"/>
                </a:moveTo>
                <a:lnTo>
                  <a:pt x="14626818" y="0"/>
                </a:lnTo>
                <a:lnTo>
                  <a:pt x="14626818" y="8111236"/>
                </a:lnTo>
                <a:lnTo>
                  <a:pt x="0" y="811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2637</Words>
  <Application>Microsoft Office PowerPoint</Application>
  <PresentationFormat>Custom</PresentationFormat>
  <Paragraphs>260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Montserrat Bold</vt:lpstr>
      <vt:lpstr>Montserrat</vt:lpstr>
      <vt:lpstr>Open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Phase1</dc:title>
  <dc:creator>PRANAY PARSUTKAR</dc:creator>
  <cp:lastModifiedBy>PRANAY PARSUTKAR</cp:lastModifiedBy>
  <cp:revision>22</cp:revision>
  <dcterms:created xsi:type="dcterms:W3CDTF">2006-08-16T00:00:00Z</dcterms:created>
  <dcterms:modified xsi:type="dcterms:W3CDTF">2025-11-03T08:34:33Z</dcterms:modified>
  <dc:identifier>DAG18WcEVkE</dc:identifier>
</cp:coreProperties>
</file>